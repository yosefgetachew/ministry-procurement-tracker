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2e0f935a6e4cdb" /><Relationship Type="http://schemas.openxmlformats.org/officeDocument/2006/relationships/extended-properties" Target="/docProps/app.xml" Id="R5fc679ba4d744742" /><Relationship Type="http://schemas.openxmlformats.org/officeDocument/2006/relationships/officeDocument" Target="/ppt/presentation.xml" Id="R2414ca1e4e7a4e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bfc3f11aa41e1"/>
  </p:sldMasterIdLst>
  <p:notesMasterIdLst>
    <p:notesMasterId xmlns:r="http://schemas.openxmlformats.org/officeDocument/2006/relationships" r:id="R8696a9c6a7004177"/>
  </p:notesMasterIdLst>
  <p:sldIdLst>
    <p:sldId xmlns:r="http://schemas.openxmlformats.org/officeDocument/2006/relationships" id="256" r:id="R92e48228967345a8"/>
    <p:sldId xmlns:r="http://schemas.openxmlformats.org/officeDocument/2006/relationships" id="257" r:id="R734517ac2170496b"/>
    <p:sldId xmlns:r="http://schemas.openxmlformats.org/officeDocument/2006/relationships" id="258" r:id="R58a8022d5abe4d26"/>
    <p:sldId xmlns:r="http://schemas.openxmlformats.org/officeDocument/2006/relationships" id="259" r:id="R3a5a5d34a758455e"/>
    <p:sldId xmlns:r="http://schemas.openxmlformats.org/officeDocument/2006/relationships" id="260" r:id="R8a68ad990c13403b"/>
    <p:sldId xmlns:r="http://schemas.openxmlformats.org/officeDocument/2006/relationships" id="261" r:id="R414ece31f5344937"/>
    <p:sldId xmlns:r="http://schemas.openxmlformats.org/officeDocument/2006/relationships" id="262" r:id="R984a074c00754e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246cbb7b2942c6" /><Relationship Type="http://schemas.openxmlformats.org/officeDocument/2006/relationships/slideMaster" Target="/ppt/slideMasters/slideMaster1.xml" Id="Rf6bbfc3f11aa41e1" /><Relationship Type="http://schemas.openxmlformats.org/officeDocument/2006/relationships/notesMaster" Target="/ppt/notesMasters/notesMaster1.xml" Id="R8696a9c6a7004177" /><Relationship Type="http://schemas.openxmlformats.org/officeDocument/2006/relationships/presProps" Target="/ppt/presProps.xml" Id="R539e8d67fae9402f" /><Relationship Type="http://schemas.openxmlformats.org/officeDocument/2006/relationships/tableStyles" Target="/ppt/tableStyles.xml" Id="R34b4c8a3b47f4e7f" /><Relationship Type="http://schemas.openxmlformats.org/officeDocument/2006/relationships/slide" Target="/ppt/slides/slide1.xml" Id="R92e48228967345a8" /><Relationship Type="http://schemas.openxmlformats.org/officeDocument/2006/relationships/slide" Target="/ppt/slides/slide2.xml" Id="R734517ac2170496b" /><Relationship Type="http://schemas.openxmlformats.org/officeDocument/2006/relationships/slide" Target="/ppt/slides/slide3.xml" Id="R58a8022d5abe4d26" /><Relationship Type="http://schemas.openxmlformats.org/officeDocument/2006/relationships/slide" Target="/ppt/slides/slide4.xml" Id="R3a5a5d34a758455e" /><Relationship Type="http://schemas.openxmlformats.org/officeDocument/2006/relationships/slide" Target="/ppt/slides/slide5.xml" Id="R8a68ad990c13403b" /><Relationship Type="http://schemas.openxmlformats.org/officeDocument/2006/relationships/slide" Target="/ppt/slides/slide6.xml" Id="R414ece31f5344937" /><Relationship Type="http://schemas.openxmlformats.org/officeDocument/2006/relationships/slide" Target="/ppt/slides/slide7.xml" Id="R984a074c00754e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21fc4dde14b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288f72d963428f" /><Relationship Type="http://schemas.openxmlformats.org/officeDocument/2006/relationships/notesMaster" Target="/ppt/notesMasters/notesMaster1.xml" Id="Reb67e67e430144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a2eb97d1d04ed2" /><Relationship Type="http://schemas.openxmlformats.org/officeDocument/2006/relationships/notesMaster" Target="/ppt/notesMasters/notesMaster1.xml" Id="R5633068e42d448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b33b6b38b34af6" /><Relationship Type="http://schemas.openxmlformats.org/officeDocument/2006/relationships/notesMaster" Target="/ppt/notesMasters/notesMaster1.xml" Id="Re8916a346da64e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fbb550608a4609" /><Relationship Type="http://schemas.openxmlformats.org/officeDocument/2006/relationships/notesMaster" Target="/ppt/notesMasters/notesMaster1.xml" Id="R966ed6d7939d43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2af066ffe24daa" /><Relationship Type="http://schemas.openxmlformats.org/officeDocument/2006/relationships/notesMaster" Target="/ppt/notesMasters/notesMaster1.xml" Id="R34af6a237d8241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5d38c932894721" /><Relationship Type="http://schemas.openxmlformats.org/officeDocument/2006/relationships/notesMaster" Target="/ppt/notesMasters/notesMaster1.xml" Id="Ra094af5f076b42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4c901b74e44e63" /><Relationship Type="http://schemas.openxmlformats.org/officeDocument/2006/relationships/notesMaster" Target="/ppt/notesMasters/notesMaster1.xml" Id="R27356b49433049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asset: D:/OneDrive/projects/ministry-procurement-tracker/frontend/src/assets/ministry-logo.png</a:t>
            </a:r>
          </a:p>
          <a:p xmlns:a="http://schemas.openxmlformats.org/drawingml/2006/main">
            <a:r>
              <a:t>- Workflow source: user-approved PTS workflow and local application implementation, 12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source: user-approved PTS workflow and local application implementation, 12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source: PTS procurement plan validation and assigned-project rules in the local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source: Director review rules implemented in the PTS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source: five-member Endorsing Committee and 3-vote thresholds implemented in the PTS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source: Ministry Management approval and mandatory rejection-reason rules implemented in the PTS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 source: post-approval stage tracking, contract, payment and closure functions in the local PTS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ddb02444d4b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15c7d6c93447c4" /><Relationship Type="http://schemas.openxmlformats.org/officeDocument/2006/relationships/slideLayout" Target="/ppt/slideLayouts/slideLayout1.xml" Id="R2670f794f084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70f794f084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37dc79e8c456c" /><Relationship Type="http://schemas.openxmlformats.org/officeDocument/2006/relationships/image" Target="/ppt/media/image.png" Id="R80146c5172354da8" /><Relationship Type="http://schemas.openxmlformats.org/officeDocument/2006/relationships/notesSlide" Target="/ppt/notesSlides/notesSlide1.xml" Id="R587a943ce79e4e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c5bcca7954b16" /><Relationship Type="http://schemas.openxmlformats.org/officeDocument/2006/relationships/notesSlide" Target="/ppt/notesSlides/notesSlide2.xml" Id="Rf9516a7f444a40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45e457b414144" /><Relationship Type="http://schemas.openxmlformats.org/officeDocument/2006/relationships/notesSlide" Target="/ppt/notesSlides/notesSlide3.xml" Id="Rec67a89af2ab40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f84f3e3e249e2" /><Relationship Type="http://schemas.openxmlformats.org/officeDocument/2006/relationships/notesSlide" Target="/ppt/notesSlides/notesSlide4.xml" Id="R57566f60525242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23804b7e1441d" /><Relationship Type="http://schemas.openxmlformats.org/officeDocument/2006/relationships/notesSlide" Target="/ppt/notesSlides/notesSlide5.xml" Id="R63307cc56c9b43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e550fc86c49f9" /><Relationship Type="http://schemas.openxmlformats.org/officeDocument/2006/relationships/notesSlide" Target="/ppt/notesSlides/notesSlide6.xml" Id="R7715d06329154f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9f699c30147d5" /><Relationship Type="http://schemas.openxmlformats.org/officeDocument/2006/relationships/notesSlide" Target="/ppt/notesSlides/notesSlide7.xml" Id="R749294e4883a46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ld-edge">
            <a:extLst xmlns:a="http://schemas.openxmlformats.org/drawingml/2006/main">
              <a:ext uri="{FF2B5EF4-FFF2-40B4-BE49-F238E27FC236}">
                <a16:creationId xmlns:a16="http://schemas.microsoft.com/office/drawing/2014/main" id="{A7090D76-90A8-4EF7-9D4F-E6B4977B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field">
            <a:extLst xmlns:a="http://schemas.openxmlformats.org/drawingml/2006/main">
              <a:ext uri="{FF2B5EF4-FFF2-40B4-BE49-F238E27FC236}">
                <a16:creationId xmlns:a16="http://schemas.microsoft.com/office/drawing/2014/main" id="{D7F68F0A-16E5-4B31-8173-4917419C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2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0">
            <a:extLst xmlns:a="http://schemas.openxmlformats.org/drawingml/2006/main">
              <a:ext uri="{FF2B5EF4-FFF2-40B4-BE49-F238E27FC236}">
                <a16:creationId xmlns:a16="http://schemas.microsoft.com/office/drawing/2014/main" id="{344C4BE3-F2FC-4061-B085-BA6009DA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47750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ipe-1">
            <a:extLst xmlns:a="http://schemas.openxmlformats.org/drawingml/2006/main">
              <a:ext uri="{FF2B5EF4-FFF2-40B4-BE49-F238E27FC236}">
                <a16:creationId xmlns:a16="http://schemas.microsoft.com/office/drawing/2014/main" id="{6DF29F7C-A6BA-4ED1-8ABC-CBD0161D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255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ipe-2">
            <a:extLst xmlns:a="http://schemas.openxmlformats.org/drawingml/2006/main">
              <a:ext uri="{FF2B5EF4-FFF2-40B4-BE49-F238E27FC236}">
                <a16:creationId xmlns:a16="http://schemas.microsoft.com/office/drawing/2014/main" id="{22C441F7-DEDD-466F-A0E7-6AAB3223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954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ipe-3">
            <a:extLst xmlns:a="http://schemas.openxmlformats.org/drawingml/2006/main">
              <a:ext uri="{FF2B5EF4-FFF2-40B4-BE49-F238E27FC236}">
                <a16:creationId xmlns:a16="http://schemas.microsoft.com/office/drawing/2014/main" id="{C237E283-4B6A-4E88-A019-CBC49A91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19300"/>
            <a:ext cx="1752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4">
            <a:extLst xmlns:a="http://schemas.openxmlformats.org/drawingml/2006/main">
              <a:ext uri="{FF2B5EF4-FFF2-40B4-BE49-F238E27FC236}">
                <a16:creationId xmlns:a16="http://schemas.microsoft.com/office/drawing/2014/main" id="{3D24081B-8495-4D8B-89AD-66E210AC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43150"/>
            <a:ext cx="1352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ipe-5">
            <a:extLst xmlns:a="http://schemas.openxmlformats.org/drawingml/2006/main">
              <a:ext uri="{FF2B5EF4-FFF2-40B4-BE49-F238E27FC236}">
                <a16:creationId xmlns:a16="http://schemas.microsoft.com/office/drawing/2014/main" id="{DD65CA7E-7DCD-4C35-87D0-FD7DED3D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ipe-6">
            <a:extLst xmlns:a="http://schemas.openxmlformats.org/drawingml/2006/main">
              <a:ext uri="{FF2B5EF4-FFF2-40B4-BE49-F238E27FC236}">
                <a16:creationId xmlns:a16="http://schemas.microsoft.com/office/drawing/2014/main" id="{5DB8FD39-5656-4C75-8138-79CCDA27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9908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ripe-7">
            <a:extLst xmlns:a="http://schemas.openxmlformats.org/drawingml/2006/main">
              <a:ext uri="{FF2B5EF4-FFF2-40B4-BE49-F238E27FC236}">
                <a16:creationId xmlns:a16="http://schemas.microsoft.com/office/drawing/2014/main" id="{EE4178A7-9C71-465A-9623-01722B5F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3147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46c5172354da8"/>
          <a:stretch xmlns:a="http://schemas.openxmlformats.org/drawingml/2006/main"/>
        </p:blipFill>
        <p:spPr>
          <a:xfrm xmlns:a="http://schemas.openxmlformats.org/drawingml/2006/main">
            <a:off x="868209" y="590550"/>
            <a:ext cx="1102031" cy="857250"/>
          </a:xfrm>
          <a:prstGeom xmlns:a="http://schemas.openxmlformats.org/drawingml/2006/main" prst="rect">
            <a:avLst/>
          </a:prstGeom>
        </p:spPr>
      </p:pic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62E98D-66EE-46F5-BB4C-FDDE63A0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A72F"/>
                </a:solidFill>
              </a:defRPr>
            </a:pPr>
            <a:r>
              <a:rPr sz="1125" b="1">
                <a:solidFill>
                  <a:srgbClr val="D6A72F"/>
                </a:solidFill>
              </a:rPr>
              <a:t>PROCUREMENT GOVERNANCE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208E844-9FD5-4A30-9DD6-48604C2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Approval workflow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3F59EA5-DEA2-40AF-9054-11A9057E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600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F6EC"/>
                </a:solidFill>
              </a:defRPr>
            </a:pPr>
            <a:r>
              <a:rPr sz="1875" b="0">
                <a:solidFill>
                  <a:srgbClr val="D9F6EC"/>
                </a:solidFill>
              </a:rPr>
              <a:t>From procurement planning to final Ministry Management decision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802E772-CF53-4301-AC3F-3ECBC603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2DA01D4-D783-4E90-B239-CC49D114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Step-by-step operating guide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34D7E58-19B1-49B8-9E1A-A9C546D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EADB"/>
                </a:solidFill>
              </a:defRPr>
            </a:pPr>
            <a:r>
              <a:rPr sz="975" b="0">
                <a:solidFill>
                  <a:srgbClr val="B9EADB"/>
                </a:solidFill>
              </a:rPr>
              <a:t>Ministry of Agriculture  |  Procurement Tracking System</a:t>
            </a:r>
          </a:p>
        </p:txBody>
      </p:sp>
    </p:spTree>
    <p:extLst>
      <p:ext uri="{BB962C8B-B14F-4D97-AF65-F5344CB8AC3E}">
        <p14:creationId xmlns:p14="http://schemas.microsoft.com/office/powerpoint/2010/main" val="231460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D6591206-CD3B-4EFC-A708-C89B32D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EXECUTIVE 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21CA8E-7E91-48B8-8AAB-7B82EB6D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One controlled chain moves every plan to a final decision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76DD8E2-1620-4E24-ADBF-C0CEE8A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9E4519-7CE7-4B2D-AE53-3B7D1385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BD8CF-72D4-496B-A5F5-0B4F547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90825"/>
            <a:ext cx="666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1AC62-33F1-4E76-B3A9-5293DFDA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90825"/>
            <a:ext cx="666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9EB93-BEC9-4DA9-98B9-84808301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666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1CD94-B8C8-47E8-B8BA-7D95FFB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90825"/>
            <a:ext cx="666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0">
            <a:extLst xmlns:a="http://schemas.openxmlformats.org/drawingml/2006/main">
              <a:ext uri="{FF2B5EF4-FFF2-40B4-BE49-F238E27FC236}">
                <a16:creationId xmlns:a16="http://schemas.microsoft.com/office/drawing/2014/main" id="{8C043D0E-49CE-43A3-B530-4101FAC0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733550" cy="18859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AD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256A78F-2F75-42FF-9055-15167E4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01–03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AFB1A7F-E964-4F7D-977A-43B7575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PLAN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FDC5E3-E5DD-4D04-9DCE-5483E88E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246"/>
                </a:solidFill>
              </a:defRPr>
            </a:pPr>
            <a:r>
              <a:rPr sz="1050" b="1">
                <a:solidFill>
                  <a:srgbClr val="075246"/>
                </a:solidFill>
              </a:rPr>
              <a:t>Officer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D81C857-A5AE-417D-A9E9-C43A4459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Prepare activities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and submit</a:t>
            </a:r>
          </a:p>
        </p:txBody>
      </p:sp>
      <p:sp>
        <p:nvSpPr>
          <p:cNvPr id="14" name="stage-1">
            <a:extLst xmlns:a="http://schemas.openxmlformats.org/drawingml/2006/main">
              <a:ext uri="{FF2B5EF4-FFF2-40B4-BE49-F238E27FC236}">
                <a16:creationId xmlns:a16="http://schemas.microsoft.com/office/drawing/2014/main" id="{D53F58E8-5B9D-4A96-85F3-B88B01C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733550" cy="18859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AD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0499B9-0281-4124-ACD7-E1D48EF1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49297E-464E-4E17-8ECA-D2882390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03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SCREEN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97E87C-E431-4892-A549-7924508E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246"/>
                </a:solidFill>
              </a:defRPr>
            </a:pPr>
            <a:r>
              <a:rPr sz="1050" b="1">
                <a:solidFill>
                  <a:srgbClr val="075246"/>
                </a:solidFill>
              </a:rPr>
              <a:t>Director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63E90E1-78CA-43D5-8D68-4123880A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528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Approve, return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or reject</a:t>
            </a:r>
          </a:p>
        </p:txBody>
      </p:sp>
      <p:sp>
        <p:nvSpPr>
          <p:cNvPr id="19" name="stage-2">
            <a:extLst xmlns:a="http://schemas.openxmlformats.org/drawingml/2006/main">
              <a:ext uri="{FF2B5EF4-FFF2-40B4-BE49-F238E27FC236}">
                <a16:creationId xmlns:a16="http://schemas.microsoft.com/office/drawing/2014/main" id="{B149821F-DFC6-4A57-9C95-A87EE314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1733550" cy="18859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ADB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E4E1B84-F2BC-4160-A543-3DF91DE7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05–06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25CF790-1E94-4795-BA1C-3BDEC1C7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03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ENDORSE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A8F948-136F-4332-84C4-64C5EC69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480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246"/>
                </a:solidFill>
              </a:defRPr>
            </a:pPr>
            <a:r>
              <a:rPr sz="1050" b="1">
                <a:solidFill>
                  <a:srgbClr val="075246"/>
                </a:solidFill>
              </a:rPr>
              <a:t>5 members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DB40238-3560-4EA9-82FA-FB3196B5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Independent vote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3 votes decide</a:t>
            </a:r>
          </a:p>
        </p:txBody>
      </p:sp>
      <p:sp>
        <p:nvSpPr>
          <p:cNvPr id="24" name="stage-3">
            <a:extLst xmlns:a="http://schemas.openxmlformats.org/drawingml/2006/main">
              <a:ext uri="{FF2B5EF4-FFF2-40B4-BE49-F238E27FC236}">
                <a16:creationId xmlns:a16="http://schemas.microsoft.com/office/drawing/2014/main" id="{5AC4879D-BF32-4E10-869C-735FC344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1733550" cy="18859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6A72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9914710-BBC2-4BD9-820F-57D4C58C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07–08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93706E5-9DE5-4F5D-A29B-96FD3CC9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03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APPROVE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9B36E2D-7E54-4279-87BB-D469D6D7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246"/>
                </a:solidFill>
              </a:defRPr>
            </a:pPr>
            <a:r>
              <a:rPr sz="1050" b="1">
                <a:solidFill>
                  <a:srgbClr val="075246"/>
                </a:solidFill>
              </a:rPr>
              <a:t>Management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9DF7A3E-906E-45CB-8882-3BDA6052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Final approve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or reject</a:t>
            </a:r>
          </a:p>
        </p:txBody>
      </p:sp>
      <p:sp>
        <p:nvSpPr>
          <p:cNvPr id="29" name="stage-4">
            <a:extLst xmlns:a="http://schemas.openxmlformats.org/drawingml/2006/main">
              <a:ext uri="{FF2B5EF4-FFF2-40B4-BE49-F238E27FC236}">
                <a16:creationId xmlns:a16="http://schemas.microsoft.com/office/drawing/2014/main" id="{D9BA0C8B-90BE-4BF7-B9B2-D783E25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1733550" cy="18859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ADB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4AF3A8A-FB2D-435E-99C2-FD5D0214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09–13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1D73035-0B55-412F-ABBF-58B86CA2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03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DELIVER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C97D9AB-2C21-4B1A-9FFB-E6CE6E1E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246"/>
                </a:solidFill>
              </a:defRPr>
            </a:pPr>
            <a:r>
              <a:rPr sz="1050" b="1">
                <a:solidFill>
                  <a:srgbClr val="075246"/>
                </a:solidFill>
              </a:rPr>
              <a:t>Officer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9759997-C882-4A43-8776-C7F6A5D5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528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Contract, track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and close</a:t>
            </a:r>
          </a:p>
        </p:txBody>
      </p:sp>
      <p:sp>
        <p:nvSpPr>
          <p:cNvPr id="34" name="control-band">
            <a:extLst xmlns:a="http://schemas.openxmlformats.org/drawingml/2006/main">
              <a:ext uri="{FF2B5EF4-FFF2-40B4-BE49-F238E27FC236}">
                <a16:creationId xmlns:a16="http://schemas.microsoft.com/office/drawing/2014/main" id="{6B2BBFBD-4711-4608-96ED-74D8FE42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0363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6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0A48C2A-69FE-48EB-A30F-204A1C96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A72F"/>
                </a:solidFill>
              </a:defRPr>
            </a:pPr>
            <a:r>
              <a:rPr sz="975" b="1">
                <a:solidFill>
                  <a:srgbClr val="D6A72F"/>
                </a:solidFill>
              </a:rPr>
              <a:t>CONTROL PRINCIPLE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1530DDD-CBF5-4081-B19B-0F24198E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 purchase proceeds without an approved plan, documented decisions and traceable ownership.</a:t>
            </a:r>
          </a:p>
        </p:txBody>
      </p:sp>
      <p:sp>
        <p:nvSpPr>
          <p:cNvPr id="37" name="footer">
            <a:extLst xmlns:a="http://schemas.openxmlformats.org/drawingml/2006/main">
              <a:ext uri="{FF2B5EF4-FFF2-40B4-BE49-F238E27FC236}">
                <a16:creationId xmlns:a16="http://schemas.microsoft.com/office/drawing/2014/main" id="{20E8B0CB-B66E-4047-A999-EEB4781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MoA Procurement Tracking System  •  Approval workflow</a:t>
            </a:r>
          </a:p>
        </p:txBody>
      </p:sp>
    </p:spTree>
    <p:extLst>
      <p:ext uri="{BB962C8B-B14F-4D97-AF65-F5344CB8AC3E}">
        <p14:creationId xmlns:p14="http://schemas.microsoft.com/office/powerpoint/2010/main" val="1184576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89F819C-A679-4A3C-86A4-23E31DD6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STEPS 1–3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54CAD5-E855-43E8-88EF-B910339D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Procurement Officer creates the auditable foundation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42BEDE1-CF4D-4217-9A74-F34F3D9F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BDEA9C-9BC5-4C94-9FF3-717FD51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2A29D-040D-41F8-A8A7-47517348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2F137-1B2E-4A67-9544-DC2EB655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52700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0ABDF226-0AB1-46D9-A40C-21E87675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80E99DF-F009-4AA5-A908-DCF33774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Select an assigned project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ED1033-E221-4C57-BA38-282E836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Only projects previously assigned to the requester are available.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F7B9D8F8-3A5E-4C1F-821B-E77D7E0E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11319A1-16A7-430F-9A64-4647298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Build the procurement plan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37DB01-28EF-4507-9131-3074D60D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Add activities, methods, estimates, funding and milestone dates.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E137C381-9A04-4458-A0B5-47B6ADFE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C805E03-C26A-445F-8A64-D9A24685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Submit a complete plan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7E54F61-351C-4C0E-B9C6-49FBC8E2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Validation blocks submission when activities or planned dates are missing.</a:t>
            </a:r>
          </a:p>
        </p:txBody>
      </p:sp>
      <p:sp>
        <p:nvSpPr>
          <p:cNvPr id="16" name="quality-gate">
            <a:extLst xmlns:a="http://schemas.openxmlformats.org/drawingml/2006/main">
              <a:ext uri="{FF2B5EF4-FFF2-40B4-BE49-F238E27FC236}">
                <a16:creationId xmlns:a16="http://schemas.microsoft.com/office/drawing/2014/main" id="{4608734D-72B1-43D7-B91E-3BA0B123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190750" cy="22669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CFDF7"/>
          </a:solidFill>
          <a:ln xmlns:a="http://schemas.openxmlformats.org/drawingml/2006/main" w="9525">
            <a:solidFill>
              <a:srgbClr val="B9EADB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A467701-C680-445D-AA2E-6600251A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QUALITY GATE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64DAD27-50BB-4C18-9D81-00173D9C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5246"/>
                </a:solidFill>
              </a:defRPr>
            </a:pPr>
            <a:r>
              <a:rPr sz="1950" b="1">
                <a:solidFill>
                  <a:srgbClr val="075246"/>
                </a:solidFill>
              </a:rPr>
              <a:t>Ready to submit?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012207-B270-44F1-8155-C12F687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43225"/>
            <a:ext cx="175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✓ Assigned project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✓ Procurement activity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✓ Method and amount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✓ All milestone dates</a:t>
            </a:r>
          </a:p>
        </p:txBody>
      </p:sp>
      <p:sp>
        <p:nvSpPr>
          <p:cNvPr id="20" name="principle">
            <a:extLst xmlns:a="http://schemas.openxmlformats.org/drawingml/2006/main">
              <a:ext uri="{FF2B5EF4-FFF2-40B4-BE49-F238E27FC236}">
                <a16:creationId xmlns:a16="http://schemas.microsoft.com/office/drawing/2014/main" id="{5D0259B4-8476-48C4-8C94-6137F331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0782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3092DAC-CA5E-4FEE-9809-8D490D38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Why this matters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63820FF-B258-489C-BB6A-52057C7A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988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Planning data becomes the single source for later purchase requests, approvals, contracts and performance tracking.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45A0BC54-33D1-4ED6-9E69-D2E948F2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MoA Procurement Tracking System  •  Approval workflow</a:t>
            </a:r>
          </a:p>
        </p:txBody>
      </p:sp>
    </p:spTree>
    <p:extLst>
      <p:ext uri="{BB962C8B-B14F-4D97-AF65-F5344CB8AC3E}">
        <p14:creationId xmlns:p14="http://schemas.microsoft.com/office/powerpoint/2010/main" val="1930702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42BFC622-C016-4779-BA04-EDAE0E73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STEP 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47E63C-330E-4B24-B5D3-CD2343F1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Director is the first formal decision gate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52E46B1-A3A6-47B9-B569-BDFCEB9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A33120-78AA-433B-BCDF-20463E82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31BD8-3CB7-4B84-B8BA-B73728D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800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85128-367D-4DB3-BFDD-EC39C2E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800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9377C-3557-4E40-9E2A-A18A25BF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76725"/>
            <a:ext cx="800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EC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rector-review">
            <a:extLst xmlns:a="http://schemas.openxmlformats.org/drawingml/2006/main">
              <a:ext uri="{FF2B5EF4-FFF2-40B4-BE49-F238E27FC236}">
                <a16:creationId xmlns:a16="http://schemas.microsoft.com/office/drawing/2014/main" id="{6BD5A14F-E69D-49B8-9CF7-57EAAA0C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095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6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CB358DC5-5EB2-40DE-AD75-8690551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PROCUREMENT DIRECTOR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B589EA4-EE22-49BC-9486-736900D8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Review completeness, strategic fit and readiness for endorsement.</a:t>
            </a:r>
          </a:p>
        </p:txBody>
      </p:sp>
      <p:sp>
        <p:nvSpPr>
          <p:cNvPr id="11" name="outcome-0">
            <a:extLst xmlns:a="http://schemas.openxmlformats.org/drawingml/2006/main">
              <a:ext uri="{FF2B5EF4-FFF2-40B4-BE49-F238E27FC236}">
                <a16:creationId xmlns:a16="http://schemas.microsoft.com/office/drawing/2014/main" id="{48A2E0E2-51B6-4C00-975E-C10B5577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6690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912BE37-5F87-4DAD-882F-063D742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097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</a:defRPr>
            </a:pPr>
            <a:r>
              <a:rPr sz="1125" b="1">
                <a:solidFill>
                  <a:srgbClr val="15803D"/>
                </a:solidFill>
              </a:rPr>
              <a:t>APPROVE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6CB30F1-6494-4F12-BD74-0DEA277C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62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 to Endorsing Committee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11D232D-1BE3-4F7A-9250-ACD12265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76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Comment optional</a:t>
            </a:r>
          </a:p>
        </p:txBody>
      </p:sp>
      <p:sp>
        <p:nvSpPr>
          <p:cNvPr id="15" name="outcome-1">
            <a:extLst xmlns:a="http://schemas.openxmlformats.org/drawingml/2006/main">
              <a:ext uri="{FF2B5EF4-FFF2-40B4-BE49-F238E27FC236}">
                <a16:creationId xmlns:a16="http://schemas.microsoft.com/office/drawing/2014/main" id="{0EE2BA56-8194-4273-8FA1-2C00C002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86075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3E0643A-8FF7-4E04-AF54-CADAA68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</a:defRPr>
            </a:pPr>
            <a:r>
              <a:rPr sz="1125" b="1">
                <a:solidFill>
                  <a:srgbClr val="B45309"/>
                </a:solidFill>
              </a:rPr>
              <a:t>RETURN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8FE8755-3E1C-477B-A724-7D017454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813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Officer corrects and resubmits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850A430-9A2D-46FF-AEA2-44D09D91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Reason required</a:t>
            </a:r>
          </a:p>
        </p:txBody>
      </p:sp>
      <p:sp>
        <p:nvSpPr>
          <p:cNvPr id="19" name="outcome-2">
            <a:extLst xmlns:a="http://schemas.openxmlformats.org/drawingml/2006/main">
              <a:ext uri="{FF2B5EF4-FFF2-40B4-BE49-F238E27FC236}">
                <a16:creationId xmlns:a16="http://schemas.microsoft.com/office/drawing/2014/main" id="{A3886022-06B3-4AF2-A8CD-016D246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40BFC08-B614-42A5-AEA5-D7C1634D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481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</a:defRPr>
            </a:pPr>
            <a:r>
              <a:rPr sz="1125" b="1">
                <a:solidFill>
                  <a:srgbClr val="B91C1C"/>
                </a:solidFill>
              </a:rPr>
              <a:t>REJECT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FDAE3FF-F0A1-4185-AB51-ED09571A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Workflow stops at Director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299EBC4-622D-4207-B0A9-7FEF8831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Reason required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999540C-B574-4DAD-834B-AAEAE591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5246"/>
                </a:solidFill>
              </a:defRPr>
            </a:pPr>
            <a:r>
              <a:rPr sz="1650" b="1">
                <a:solidFill>
                  <a:srgbClr val="075246"/>
                </a:solidFill>
              </a:rPr>
              <a:t>Decision comments become part of the permanent approval history.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965AEDF1-3538-45C5-9133-B4A44592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MoA Procurement Tracking System  •  Approval workflow</a:t>
            </a:r>
          </a:p>
        </p:txBody>
      </p:sp>
    </p:spTree>
    <p:extLst>
      <p:ext uri="{BB962C8B-B14F-4D97-AF65-F5344CB8AC3E}">
        <p14:creationId xmlns:p14="http://schemas.microsoft.com/office/powerpoint/2010/main" val="1261496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92AA3342-BD91-4B68-968E-95432695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STEPS 5–6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7D39CD-1E83-4975-8AFA-F3E64E6F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Five independent votes produce one Endorsing Committee outcome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9E83E1C-CBC0-41E1-BF5B-C62F3C94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88F67C-F2DD-434C-8606-8215A2E7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member-0">
            <a:extLst xmlns:a="http://schemas.openxmlformats.org/drawingml/2006/main">
              <a:ext uri="{FF2B5EF4-FFF2-40B4-BE49-F238E27FC236}">
                <a16:creationId xmlns:a16="http://schemas.microsoft.com/office/drawing/2014/main" id="{CD7068BC-AAB5-4A9A-AB61-EF3514C3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919F4D-17BC-4E43-BA47-48BADAA1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05025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FBFA4D-2AE4-4563-8163-3072DB28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MEMBER</a:t>
            </a:r>
          </a:p>
        </p:txBody>
      </p:sp>
      <p:sp>
        <p:nvSpPr>
          <p:cNvPr id="8" name="member-1">
            <a:extLst xmlns:a="http://schemas.openxmlformats.org/drawingml/2006/main">
              <a:ext uri="{FF2B5EF4-FFF2-40B4-BE49-F238E27FC236}">
                <a16:creationId xmlns:a16="http://schemas.microsoft.com/office/drawing/2014/main" id="{9507CF0B-533A-4909-AE14-2FA948F0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52625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74F459-CA1F-4F29-AB33-F9D024C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05025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F336B6-81AD-40DF-B2C3-7B21FE20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813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MEMBER</a:t>
            </a:r>
          </a:p>
        </p:txBody>
      </p:sp>
      <p:sp>
        <p:nvSpPr>
          <p:cNvPr id="11" name="member-2">
            <a:extLst xmlns:a="http://schemas.openxmlformats.org/drawingml/2006/main">
              <a:ext uri="{FF2B5EF4-FFF2-40B4-BE49-F238E27FC236}">
                <a16:creationId xmlns:a16="http://schemas.microsoft.com/office/drawing/2014/main" id="{9ADFBA04-0CEE-47DC-BE64-C4C0869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52625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42A28A-40A0-4B7D-A89E-0A4AC3EA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05025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72BCD3-09D8-44AC-B4E3-3957839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813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MEMBER</a:t>
            </a:r>
          </a:p>
        </p:txBody>
      </p:sp>
      <p:sp>
        <p:nvSpPr>
          <p:cNvPr id="14" name="member-3">
            <a:extLst xmlns:a="http://schemas.openxmlformats.org/drawingml/2006/main">
              <a:ext uri="{FF2B5EF4-FFF2-40B4-BE49-F238E27FC236}">
                <a16:creationId xmlns:a16="http://schemas.microsoft.com/office/drawing/2014/main" id="{58759D74-CA8C-4737-9830-B985303E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952625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12D85BD-4A8B-4738-A6B5-CE0474D9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105025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62673E0-D93F-4F0D-8F01-5CA644D5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813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MEMBER</a:t>
            </a:r>
          </a:p>
        </p:txBody>
      </p:sp>
      <p:sp>
        <p:nvSpPr>
          <p:cNvPr id="17" name="member-4">
            <a:extLst xmlns:a="http://schemas.openxmlformats.org/drawingml/2006/main">
              <a:ext uri="{FF2B5EF4-FFF2-40B4-BE49-F238E27FC236}">
                <a16:creationId xmlns:a16="http://schemas.microsoft.com/office/drawing/2014/main" id="{243BF833-A7E6-4FF8-8F86-6DFFF5EF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F32EB0B-C41C-4862-905A-747DCF42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05025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</a:defRPr>
            </a:pPr>
            <a:r>
              <a:rPr sz="1800" b="1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B503023-DE2C-4730-A004-6503A1E1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MEMBER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AA569-6275-45B0-B963-3777187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876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hreshold">
            <a:extLst xmlns:a="http://schemas.openxmlformats.org/drawingml/2006/main">
              <a:ext uri="{FF2B5EF4-FFF2-40B4-BE49-F238E27FC236}">
                <a16:creationId xmlns:a16="http://schemas.microsoft.com/office/drawing/2014/main" id="{4BB692BA-E780-477C-ADDE-4D9D257B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2209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6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9ECE179-0F42-4DC5-8A0E-8DD0236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383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6A72F"/>
                </a:solidFill>
              </a:defRPr>
            </a:pPr>
            <a:r>
              <a:rPr sz="2850" b="1">
                <a:solidFill>
                  <a:srgbClr val="D6A72F"/>
                </a:solidFill>
              </a:rPr>
              <a:t>3 of 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134519E-7C57-4854-89AB-8B8D0524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votes determine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outcome</a:t>
            </a:r>
          </a:p>
        </p:txBody>
      </p:sp>
      <p:sp>
        <p:nvSpPr>
          <p:cNvPr id="24" name="endorse">
            <a:extLst xmlns:a="http://schemas.openxmlformats.org/drawingml/2006/main">
              <a:ext uri="{FF2B5EF4-FFF2-40B4-BE49-F238E27FC236}">
                <a16:creationId xmlns:a16="http://schemas.microsoft.com/office/drawing/2014/main" id="{36095535-9665-435B-9EE4-23E5F142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FDF7"/>
          </a:solidFill>
          <a:ln xmlns:a="http://schemas.openxmlformats.org/drawingml/2006/main" w="9525">
            <a:solidFill>
              <a:srgbClr val="B9EADB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0E75BEB-89DD-47B9-B932-C41256C4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147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</a:defRPr>
            </a:pPr>
            <a:r>
              <a:rPr sz="1125" b="1">
                <a:solidFill>
                  <a:srgbClr val="15803D"/>
                </a:solidFill>
              </a:rPr>
              <a:t>3 APPROVAL VOTES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8CC0660-C8F6-4E50-B5D6-5FA67916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767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Plan is endorsed and advances to Ministry Management approval.</a:t>
            </a:r>
          </a:p>
        </p:txBody>
      </p:sp>
      <p:sp>
        <p:nvSpPr>
          <p:cNvPr id="27" name="reject">
            <a:extLst xmlns:a="http://schemas.openxmlformats.org/drawingml/2006/main">
              <a:ext uri="{FF2B5EF4-FFF2-40B4-BE49-F238E27FC236}">
                <a16:creationId xmlns:a16="http://schemas.microsoft.com/office/drawing/2014/main" id="{2015F710-573B-4E90-A29C-940988F7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05225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46AFF2D-5D55-404E-AAF2-DFD1D82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147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</a:defRPr>
            </a:pPr>
            <a:r>
              <a:rPr sz="1125" b="1">
                <a:solidFill>
                  <a:srgbClr val="B91C1C"/>
                </a:solidFill>
              </a:rPr>
              <a:t>3 REJECTION VOTES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4766050-42B7-4D91-83BF-0241881D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767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Plan is rejected by the Endorsing Committee and does not advance.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AF37317-08FE-4A4F-868A-E7889D7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246"/>
                </a:solidFill>
              </a:defRPr>
            </a:pPr>
            <a:r>
              <a:rPr sz="1350" b="1">
                <a:solidFill>
                  <a:srgbClr val="075246"/>
                </a:solidFill>
              </a:rPr>
              <a:t>Every member votes once. Individual decisions and comments remain traceable.</a:t>
            </a:r>
          </a:p>
        </p:txBody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F5F4E1AC-7CF3-47DD-9F61-7EA6D997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MoA Procurement Tracking System  •  Approval workflow</a:t>
            </a:r>
          </a:p>
        </p:txBody>
      </p:sp>
    </p:spTree>
    <p:extLst>
      <p:ext uri="{BB962C8B-B14F-4D97-AF65-F5344CB8AC3E}">
        <p14:creationId xmlns:p14="http://schemas.microsoft.com/office/powerpoint/2010/main" val="4373537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E0156E8-15AC-4D76-B509-7D1135FC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STEPS 7–8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59E6CA-98F5-46DC-A902-279B33E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Ministry Management makes the final institutional decision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9B4BDAD-8696-4148-91CA-EB89E410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E40194-13B4-4A1F-8AFF-54CCEF52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5" name="entry">
            <a:extLst xmlns:a="http://schemas.openxmlformats.org/drawingml/2006/main">
              <a:ext uri="{FF2B5EF4-FFF2-40B4-BE49-F238E27FC236}">
                <a16:creationId xmlns:a16="http://schemas.microsoft.com/office/drawing/2014/main" id="{F83608F4-3BB5-4034-9D81-52B5903C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782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6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6ABBC4-52DE-4CA1-8453-A7407FF2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A72F"/>
                </a:solidFill>
              </a:defRPr>
            </a:pPr>
            <a:r>
              <a:rPr sz="975" b="1">
                <a:solidFill>
                  <a:srgbClr val="D6A72F"/>
                </a:solidFill>
              </a:rPr>
              <a:t>ENTRY CONDITION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F6B4500-606B-4D18-A817-0C2A5860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859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 plan has secured at least three Endorsing Committee approvals.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5C510-698D-4706-9AC2-44888321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5143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39BFA-5870-42AF-A067-A853D67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43225"/>
            <a:ext cx="5143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prove">
            <a:extLst xmlns:a="http://schemas.openxmlformats.org/drawingml/2006/main">
              <a:ext uri="{FF2B5EF4-FFF2-40B4-BE49-F238E27FC236}">
                <a16:creationId xmlns:a16="http://schemas.microsoft.com/office/drawing/2014/main" id="{23377F75-50A6-4DDC-840A-8A3DF0C2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572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CFDF7"/>
          </a:solidFill>
          <a:ln xmlns:a="http://schemas.openxmlformats.org/drawingml/2006/main" w="9525">
            <a:solidFill>
              <a:srgbClr val="B9EAD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6846E14-C14F-4675-991C-F02FE133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719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</a:defRPr>
            </a:pPr>
            <a:r>
              <a:rPr sz="1125" b="1">
                <a:solidFill>
                  <a:srgbClr val="15803D"/>
                </a:solidFill>
              </a:rPr>
              <a:t>FINAL APPROVAL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646FF0-AFDF-4015-8431-6250EB4B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Comment is optional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9DC792-9C7B-4385-9C35-0E8EA57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Plan becomes Finally Approved and implementation may begin.</a:t>
            </a:r>
          </a:p>
        </p:txBody>
      </p:sp>
      <p:sp>
        <p:nvSpPr>
          <p:cNvPr id="14" name="reject">
            <a:extLst xmlns:a="http://schemas.openxmlformats.org/drawingml/2006/main">
              <a:ext uri="{FF2B5EF4-FFF2-40B4-BE49-F238E27FC236}">
                <a16:creationId xmlns:a16="http://schemas.microsoft.com/office/drawing/2014/main" id="{3DBB3BEE-2542-4FDB-9471-0625057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72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FD9011F-4FC6-4F4E-B697-1BDE1812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719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</a:defRPr>
            </a:pPr>
            <a:r>
              <a:rPr sz="1125" b="1">
                <a:solidFill>
                  <a:srgbClr val="B91C1C"/>
                </a:solidFill>
              </a:rPr>
              <a:t>FINAL REJECTION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D93111-6F83-4D22-978F-5E83DA34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Reason is mandatory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4171426-DB47-4EBC-9204-13F4C2E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system blocks rejection until a reason is entered.</a:t>
            </a:r>
          </a:p>
        </p:txBody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B46A31DE-1CBD-4A0A-9C26-C60C1ED6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76900"/>
            <a:ext cx="2895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F35"/>
                </a:solidFill>
              </a:defRPr>
            </a:pPr>
            <a:r>
              <a:rPr sz="900" b="1">
                <a:solidFill>
                  <a:srgbClr val="063F35"/>
                </a:solidFill>
              </a:rPr>
              <a:t>SYSTEM-ENFORCED CONTROL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F39DE53D-F12F-40E9-A79B-2C19FBCE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MoA Procurement Tracking System  •  Approval workflow</a:t>
            </a:r>
          </a:p>
        </p:txBody>
      </p:sp>
    </p:spTree>
    <p:extLst>
      <p:ext uri="{BB962C8B-B14F-4D97-AF65-F5344CB8AC3E}">
        <p14:creationId xmlns:p14="http://schemas.microsoft.com/office/powerpoint/2010/main" val="1830829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1B764B81-8724-45ED-BCC0-13E766D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STEPS 9–13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FBFF10-2610-4B28-B1F7-EA40248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Final approval converts the plan into controlled delivery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E3F5FDF-355B-4699-A64E-4E308C3C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125880-A0BD-4D15-BAE2-400534D5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5D9D9-0069-4833-91D6-7D9761AC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43175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BEAA1-151B-4128-AF83-27A10D2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43175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5CCCF-E6F8-4E30-A83E-85502A07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43175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4840D-663C-4CB8-B91C-8EE4A858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43175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EA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8DEC17-EEBD-4529-B129-659D6BAF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09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E0B44CD-5272-481F-A754-6BECD8B1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EEF115-6943-40A8-9C68-CD741A35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IMPLEMENT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F8418E-10AD-451D-801E-959C7E28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Begin approved procurement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7122F7-3E50-4302-8E52-0AA82767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47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05AACF7C-AA3C-4C11-ADE9-D3EFE0A1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193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69D5B07-4CB9-4901-B35D-04D31B0C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TRACK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FE8DAA6-B409-4AA1-B21A-4B5F1C37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Record milestone actuals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420680A-1B69-44F9-92B1-A0275426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11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57646BD5-499B-41C7-BE62-3AA45EA3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193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51C005-0D96-48FF-9726-9F1F0332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CONTRACT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1DD8D9E-B684-4AC6-A1CA-8B81EAF6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95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Register supplier &amp; contract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4E5D839-76A3-416B-A31B-4DDB11D0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47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12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CB26E03C-D9F2-4A8C-AFC2-B3D80264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193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5E63B93-871C-4042-B78C-B52E7C19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PAY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A5EB154-4A00-40A7-8922-E7A04805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Record payments &amp; delivery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14D1527-98BA-416D-BC2B-85887678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47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13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76C7164B-6735-4652-97A0-33BEE91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193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C8B97F6-A6BD-4B30-AAE1-471024AA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CLOSE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B3A43E2-54C0-4EA9-93BE-8FF2FDD6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Complete activity and plan</a:t>
            </a:r>
          </a:p>
        </p:txBody>
      </p:sp>
      <p:sp>
        <p:nvSpPr>
          <p:cNvPr id="29" name="closeout">
            <a:extLst xmlns:a="http://schemas.openxmlformats.org/drawingml/2006/main">
              <a:ext uri="{FF2B5EF4-FFF2-40B4-BE49-F238E27FC236}">
                <a16:creationId xmlns:a16="http://schemas.microsoft.com/office/drawing/2014/main" id="{34793ADD-83BD-46FF-BB5D-9CB93C06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7442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6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64F831A-450D-4E3F-BB76-C990ADDE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72F"/>
                </a:solidFill>
              </a:defRPr>
            </a:pPr>
            <a:r>
              <a:rPr sz="1050" b="1">
                <a:solidFill>
                  <a:srgbClr val="D6A72F"/>
                </a:solidFill>
              </a:rPr>
              <a:t>THE COMPLETE AUDIT TRAIL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A39BC4F-F3E5-4BD4-A5BA-73A707E5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Plan → Director decision → Committee votes → Management decision → Contract → Payment → Closure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4A6AEB0-8D50-4981-BC94-4E77B0A6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5246"/>
                </a:solidFill>
              </a:defRPr>
            </a:pPr>
            <a:r>
              <a:rPr sz="1950" b="1">
                <a:solidFill>
                  <a:srgbClr val="075246"/>
                </a:solidFill>
              </a:rPr>
              <a:t>Outcome: one traceable record from intent to delivery.</a:t>
            </a:r>
          </a:p>
        </p:txBody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6757B0DD-629E-4BDB-AC5B-DEEE8294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MoA Procurement Tracking System  •  Approval workflow</a:t>
            </a:r>
          </a:p>
        </p:txBody>
      </p:sp>
    </p:spTree>
    <p:extLst>
      <p:ext uri="{BB962C8B-B14F-4D97-AF65-F5344CB8AC3E}">
        <p14:creationId xmlns:p14="http://schemas.microsoft.com/office/powerpoint/2010/main" val="1942279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2026-08-12T20:57:13.5710000Z</dcterms:created>
  <dcterms:modified xsi:type="dcterms:W3CDTF">2026-08-12T20:57:13.5710000Z</dcterms:modified>
</coreProperties>
</file>